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Freelance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An </a:t>
            </a:r>
            <a:r>
              <a:rPr lang="en-US" sz="2800" dirty="0" err="1"/>
              <a:t>intergrated</a:t>
            </a:r>
            <a:r>
              <a:rPr lang="en-US" sz="2800" dirty="0"/>
              <a:t> client, </a:t>
            </a:r>
            <a:r>
              <a:rPr lang="en-US" sz="2800" dirty="0" err="1"/>
              <a:t>project,invoice</a:t>
            </a:r>
            <a:r>
              <a:rPr lang="en-US" sz="2800" dirty="0"/>
              <a:t>, and expense management, android application for remote freelancers</a:t>
            </a:r>
          </a:p>
          <a:p>
            <a:r>
              <a:rPr lang="en-US" sz="2800" dirty="0"/>
              <a:t>DALEEN HUNNIPHER OTIENO 672511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</a:rPr>
              <a:t>Problem &amp; Justification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027EF0-48B8-2D10-2096-BF7155C2D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endParaRPr lang="en-US" b="1" dirty="0">
              <a:effectLst/>
            </a:endParaRPr>
          </a:p>
          <a:p>
            <a:pPr lvl="0"/>
            <a:r>
              <a:rPr lang="en-US" b="1" dirty="0">
                <a:effectLst/>
              </a:rPr>
              <a:t>Fragmented Workflows:</a:t>
            </a:r>
            <a:r>
              <a:rPr lang="en-US" dirty="0">
                <a:effectLst/>
              </a:rPr>
              <a:t> Remote freelancers routinely juggle client notes, invoices, and expense receipts across disconnected apps and spreadsheets.</a:t>
            </a:r>
          </a:p>
          <a:p>
            <a:pPr lvl="0"/>
            <a:r>
              <a:rPr lang="en-US" b="1" dirty="0">
                <a:effectLst/>
              </a:rPr>
              <a:t>Multi-Currency Friction:</a:t>
            </a:r>
            <a:r>
              <a:rPr lang="en-US" dirty="0">
                <a:effectLst/>
              </a:rPr>
              <a:t> Manual exchange rate calculations between billing, payment, and home tax currencies lead to frequent invoicing errors.</a:t>
            </a:r>
          </a:p>
          <a:p>
            <a:pPr lvl="0"/>
            <a:r>
              <a:rPr lang="en-US" b="1" dirty="0">
                <a:effectLst/>
              </a:rPr>
              <a:t>Heavy Desktop Alternatives:</a:t>
            </a:r>
            <a:r>
              <a:rPr lang="en-US" dirty="0">
                <a:effectLst/>
              </a:rPr>
              <a:t> Platforms like </a:t>
            </a:r>
            <a:r>
              <a:rPr lang="en-US" dirty="0" err="1">
                <a:effectLst/>
              </a:rPr>
              <a:t>fiverr,remote.io,quickbooks</a:t>
            </a:r>
            <a:r>
              <a:rPr lang="en-US" dirty="0">
                <a:effectLst/>
              </a:rPr>
              <a:t> or Wave are heavy, web-first accounting suites that paywall multi-currency features.</a:t>
            </a:r>
          </a:p>
          <a:p>
            <a:pPr lvl="0"/>
            <a:r>
              <a:rPr lang="en-US" b="1" u="sng" dirty="0">
                <a:effectLst/>
              </a:rPr>
              <a:t>The </a:t>
            </a:r>
            <a:r>
              <a:rPr lang="en-US" b="1" u="sng" dirty="0" err="1">
                <a:effectLst/>
              </a:rPr>
              <a:t>FreelanceFlow</a:t>
            </a:r>
            <a:r>
              <a:rPr lang="en-US" b="1" u="sng" dirty="0">
                <a:effectLst/>
              </a:rPr>
              <a:t> Solution</a:t>
            </a:r>
            <a:r>
              <a:rPr lang="en-US" b="1" dirty="0">
                <a:effectLst/>
              </a:rPr>
              <a:t>:</a:t>
            </a:r>
            <a:r>
              <a:rPr lang="en-US" dirty="0">
                <a:effectLst/>
              </a:rPr>
              <a:t> A mobile-first, offline-capable Android app uniting client productivity with automated multi-currency financial tracking.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73E60-81EE-5C60-D1ED-BF9A9220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Objectives &amp; Project Scope</a:t>
            </a:r>
            <a:br>
              <a:rPr lang="en-US" b="1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E2880-1298-FB4F-3D3A-F3B40CF03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effectLst/>
              </a:rPr>
              <a:t>In-Scope Features</a:t>
            </a:r>
          </a:p>
          <a:p>
            <a:pPr lvl="0"/>
            <a:r>
              <a:rPr lang="en-US" b="1" dirty="0">
                <a:effectLst/>
              </a:rPr>
              <a:t>Multi-Currency Invoices:</a:t>
            </a:r>
            <a:r>
              <a:rPr lang="en-US" dirty="0">
                <a:effectLst/>
              </a:rPr>
              <a:t> Automated PDF generation with live/cached exchange rate conversion.</a:t>
            </a:r>
          </a:p>
          <a:p>
            <a:pPr lvl="0"/>
            <a:r>
              <a:rPr lang="en-US" b="1" dirty="0">
                <a:effectLst/>
              </a:rPr>
              <a:t>Client &amp; Project Core:</a:t>
            </a:r>
            <a:r>
              <a:rPr lang="en-US" dirty="0">
                <a:effectLst/>
              </a:rPr>
              <a:t> Unified client registry, project milestones, and integrated time logging.</a:t>
            </a:r>
          </a:p>
          <a:p>
            <a:pPr lvl="0"/>
            <a:r>
              <a:rPr lang="en-US" b="1" dirty="0">
                <a:effectLst/>
              </a:rPr>
              <a:t>Expense &amp; Tax Tagging:</a:t>
            </a:r>
            <a:r>
              <a:rPr lang="en-US" dirty="0">
                <a:effectLst/>
              </a:rPr>
              <a:t> Receipt photos attached to specific projects with tax-deduction tagging.</a:t>
            </a:r>
          </a:p>
          <a:p>
            <a:pPr lvl="0"/>
            <a:r>
              <a:rPr lang="en-US" b="1" dirty="0">
                <a:effectLst/>
              </a:rPr>
              <a:t>Financial Overview:</a:t>
            </a:r>
            <a:r>
              <a:rPr lang="en-US" dirty="0">
                <a:effectLst/>
              </a:rPr>
              <a:t> Real-time normalized earnings, expenses, and tax estimations.</a:t>
            </a:r>
          </a:p>
          <a:p>
            <a:pPr lvl="0"/>
            <a:r>
              <a:rPr lang="en-US" b="1" dirty="0">
                <a:effectLst/>
              </a:rPr>
              <a:t>Offline-First Sync:</a:t>
            </a:r>
            <a:r>
              <a:rPr lang="en-US" dirty="0">
                <a:effectLst/>
              </a:rPr>
              <a:t> Full local database operation with auto-sync upon reconnection.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74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46A6-33EE-D091-4ACE-660F71F5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BOUNDARIES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55D85-468F-1103-939A-CA544B1BF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b="1" dirty="0">
              <a:effectLst/>
            </a:endParaRPr>
          </a:p>
          <a:p>
            <a:pPr lvl="0"/>
            <a:r>
              <a:rPr lang="en-US" b="1" dirty="0">
                <a:effectLst/>
              </a:rPr>
              <a:t>Single Freelancer Tool:</a:t>
            </a:r>
            <a:r>
              <a:rPr lang="en-US" dirty="0">
                <a:effectLst/>
              </a:rPr>
              <a:t> Excludes multi-user team workspaces, role permissions, or agency features.</a:t>
            </a:r>
          </a:p>
          <a:p>
            <a:pPr lvl="0"/>
            <a:r>
              <a:rPr lang="en-US" b="1" dirty="0">
                <a:effectLst/>
              </a:rPr>
              <a:t>Android Only:</a:t>
            </a:r>
            <a:r>
              <a:rPr lang="en-US" dirty="0">
                <a:effectLst/>
              </a:rPr>
              <a:t> Focused strictly on native Android; iOS and Web clients are out of scope.</a:t>
            </a:r>
          </a:p>
          <a:p>
            <a:pPr lvl="0"/>
            <a:r>
              <a:rPr lang="en-US" b="1" dirty="0">
                <a:effectLst/>
              </a:rPr>
              <a:t>No Legal Tax Filing:</a:t>
            </a:r>
            <a:r>
              <a:rPr lang="en-US" dirty="0">
                <a:effectLst/>
              </a:rPr>
              <a:t> Provides tax estimations and organized records, but no certified filing.</a:t>
            </a:r>
          </a:p>
          <a:p>
            <a:pPr lvl="0"/>
            <a:r>
              <a:rPr lang="en-US" b="1" dirty="0">
                <a:effectLst/>
              </a:rPr>
              <a:t>No In-App Payments:</a:t>
            </a:r>
            <a:r>
              <a:rPr lang="en-US" dirty="0">
                <a:effectLst/>
              </a:rPr>
              <a:t> Excludes live payment collection gateways, payroll, or digital signatures.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961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1EF9-A129-23B6-A3C1-6A4235E2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45440"/>
            <a:ext cx="10353762" cy="1257300"/>
          </a:xfrm>
        </p:spPr>
        <p:txBody>
          <a:bodyPr>
            <a:normAutofit/>
          </a:bodyPr>
          <a:lstStyle/>
          <a:p>
            <a:r>
              <a:rPr lang="en-US" sz="2400" b="1" dirty="0">
                <a:effectLst/>
              </a:rPr>
              <a:t>METHODOLOGY-Proposed Agile Timeline (7 Sprints)</a:t>
            </a:r>
            <a:br>
              <a:rPr lang="en-US" sz="2400" b="1" dirty="0">
                <a:effectLst/>
              </a:rPr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B0FCD-C193-2145-585F-C4423761E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0" y="1351280"/>
            <a:ext cx="11775440" cy="5161280"/>
          </a:xfrm>
        </p:spPr>
        <p:txBody>
          <a:bodyPr>
            <a:normAutofit lnSpcReduction="10000"/>
          </a:bodyPr>
          <a:lstStyle/>
          <a:p>
            <a:r>
              <a:rPr lang="en-US" sz="1600" b="1" cap="all" dirty="0">
                <a:effectLst/>
              </a:rPr>
              <a:t>Sprint 0</a:t>
            </a:r>
          </a:p>
          <a:p>
            <a:r>
              <a:rPr lang="en-US" sz="1600" b="1" dirty="0">
                <a:effectLst/>
              </a:rPr>
              <a:t>Requirements &amp; Design</a:t>
            </a:r>
          </a:p>
          <a:p>
            <a:r>
              <a:rPr lang="en-US" sz="1600" dirty="0">
                <a:effectLst/>
              </a:rPr>
              <a:t>UI/UX design in Figma, user stories setup in Jira, and Android project setup.</a:t>
            </a:r>
          </a:p>
          <a:p>
            <a:r>
              <a:rPr lang="en-US" sz="1600" b="1" cap="all" dirty="0">
                <a:effectLst/>
              </a:rPr>
              <a:t>Sprints 1 - 2</a:t>
            </a:r>
          </a:p>
          <a:p>
            <a:r>
              <a:rPr lang="en-US" sz="1600" b="1" dirty="0">
                <a:effectLst/>
              </a:rPr>
              <a:t>Clients &amp; Projects</a:t>
            </a:r>
          </a:p>
          <a:p>
            <a:r>
              <a:rPr lang="en-US" sz="1600" dirty="0">
                <a:effectLst/>
              </a:rPr>
              <a:t>Client registry, project tracking foundation, time logging, and local Room DB schemas.</a:t>
            </a:r>
          </a:p>
          <a:p>
            <a:r>
              <a:rPr lang="en-US" sz="1600" b="1" cap="all" dirty="0">
                <a:effectLst/>
              </a:rPr>
              <a:t>Sprints 3 - 4</a:t>
            </a:r>
          </a:p>
          <a:p>
            <a:r>
              <a:rPr lang="en-US" sz="1600" b="1" dirty="0">
                <a:effectLst/>
              </a:rPr>
              <a:t>Invoicing &amp; Rates</a:t>
            </a:r>
          </a:p>
          <a:p>
            <a:r>
              <a:rPr lang="en-US" sz="1600" dirty="0">
                <a:effectLst/>
              </a:rPr>
              <a:t>Live exchange-rate API integration, cached fallbacks, invoice builder, and PDF export.</a:t>
            </a:r>
          </a:p>
          <a:p>
            <a:r>
              <a:rPr lang="en-US" dirty="0">
                <a:effectLst/>
              </a:rPr>
              <a:t>sync, and final QA.</a:t>
            </a:r>
          </a:p>
          <a:p>
            <a:r>
              <a:rPr lang="en-US" sz="1700" b="1" cap="all" dirty="0">
                <a:effectLst/>
              </a:rPr>
              <a:t>Sprints 5 - 6</a:t>
            </a:r>
          </a:p>
          <a:p>
            <a:r>
              <a:rPr lang="en-US" sz="1700" b="1" dirty="0">
                <a:effectLst/>
              </a:rPr>
              <a:t>Expenses &amp; Delivery</a:t>
            </a:r>
          </a:p>
          <a:p>
            <a:r>
              <a:rPr lang="en-US" sz="1700" dirty="0">
                <a:effectLst/>
              </a:rPr>
              <a:t>Expense receipt capture, tax estimator, dashboard analytics, offline 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314467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4D3B-6E9C-2B7C-1D2A-4C2A7F35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38151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Risk Management &amp; Tech Stack</a:t>
            </a:r>
            <a:br>
              <a:rPr lang="en-US" b="1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9FA26-1BDC-036E-95FB-5F27D5871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154" y="1137920"/>
            <a:ext cx="10770205" cy="5281929"/>
          </a:xfrm>
        </p:spPr>
        <p:txBody>
          <a:bodyPr/>
          <a:lstStyle/>
          <a:p>
            <a:r>
              <a:rPr lang="en-US" sz="1600" b="1" dirty="0">
                <a:effectLst/>
              </a:rPr>
              <a:t>API Downtime Risk</a:t>
            </a:r>
          </a:p>
          <a:p>
            <a:r>
              <a:rPr lang="en-US" sz="1600" dirty="0">
                <a:effectLst/>
              </a:rPr>
              <a:t>Third-party exchange rate API limits or outages.</a:t>
            </a:r>
          </a:p>
          <a:p>
            <a:r>
              <a:rPr lang="en-US" sz="1600" b="1" dirty="0">
                <a:effectLst/>
              </a:rPr>
              <a:t>Mitigation:</a:t>
            </a:r>
            <a:r>
              <a:rPr lang="en-US" sz="1600" dirty="0">
                <a:effectLst/>
              </a:rPr>
              <a:t> Cache last-known rates locally with clear visual age indicators on invoices</a:t>
            </a:r>
            <a:r>
              <a:rPr lang="en-US" dirty="0">
                <a:effectLst/>
              </a:rPr>
              <a:t>.</a:t>
            </a:r>
          </a:p>
          <a:p>
            <a:r>
              <a:rPr lang="en-US" sz="1600" b="1" dirty="0">
                <a:effectLst/>
              </a:rPr>
              <a:t>Offline Sync Conflicts</a:t>
            </a:r>
          </a:p>
          <a:p>
            <a:r>
              <a:rPr lang="en-US" sz="1600" dirty="0">
                <a:effectLst/>
              </a:rPr>
              <a:t>Data collisions when reconnecting after offline edits.</a:t>
            </a:r>
          </a:p>
          <a:p>
            <a:r>
              <a:rPr lang="en-US" sz="1600" b="1" dirty="0">
                <a:effectLst/>
              </a:rPr>
              <a:t>Mitigation:</a:t>
            </a:r>
            <a:r>
              <a:rPr lang="en-US" sz="1600" dirty="0">
                <a:effectLst/>
              </a:rPr>
              <a:t> Implement a simple, deterministic last-write-wins policy with device storage backup</a:t>
            </a:r>
          </a:p>
          <a:p>
            <a:r>
              <a:rPr lang="en-US" b="1" dirty="0">
                <a:effectLst/>
              </a:rPr>
              <a:t>Required Resources</a:t>
            </a:r>
          </a:p>
          <a:p>
            <a:r>
              <a:rPr lang="en-US" dirty="0">
                <a:effectLst/>
              </a:rPr>
              <a:t>All </a:t>
            </a:r>
            <a:r>
              <a:rPr lang="en-US" dirty="0" err="1">
                <a:effectLst/>
              </a:rPr>
              <a:t>toolings</a:t>
            </a:r>
            <a:r>
              <a:rPr lang="en-US" dirty="0">
                <a:effectLst/>
              </a:rPr>
              <a:t> are open-source and free-tier with zero external project costs.</a:t>
            </a:r>
          </a:p>
          <a:p>
            <a:r>
              <a:rPr lang="en-US" b="1" dirty="0">
                <a:effectLst/>
              </a:rPr>
              <a:t>Android Studio, </a:t>
            </a:r>
            <a:r>
              <a:rPr lang="en-US" b="1" dirty="0" err="1">
                <a:effectLst/>
              </a:rPr>
              <a:t>Jira,Kotlin,Firebase</a:t>
            </a:r>
            <a:r>
              <a:rPr lang="en-US" b="1" dirty="0">
                <a:effectLst/>
              </a:rPr>
              <a:t>(spark), Figma, Git and </a:t>
            </a:r>
            <a:r>
              <a:rPr lang="en-US" b="1" dirty="0" err="1">
                <a:effectLst/>
              </a:rPr>
              <a:t>GitHub,exchange</a:t>
            </a:r>
            <a:r>
              <a:rPr lang="en-US" b="1" dirty="0">
                <a:effectLst/>
              </a:rPr>
              <a:t> rate API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0466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{D77AE165-5F4A-44CF-A7A7-ECAB3D3BDCA2}TFe887d8cf-77a9-48cd-9a74-d8d08097a61c3993dec7_win32-329aa78f548b</Template>
  <TotalTime>914</TotalTime>
  <Words>450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Goudy Old Style</vt:lpstr>
      <vt:lpstr>Wingdings 2</vt:lpstr>
      <vt:lpstr>SlateVTI</vt:lpstr>
      <vt:lpstr>Freelance flow</vt:lpstr>
      <vt:lpstr>Problem &amp; Justification</vt:lpstr>
      <vt:lpstr>Objectives &amp; Project Scope </vt:lpstr>
      <vt:lpstr>SCOPE BOUNDARIES</vt:lpstr>
      <vt:lpstr>METHODOLOGY-Proposed Agile Timeline (7 Sprints) </vt:lpstr>
      <vt:lpstr>Risk Management &amp; Tech Stack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Hunnipher D Otieno</dc:creator>
  <cp:lastModifiedBy>Hunnipher D Otieno</cp:lastModifiedBy>
  <cp:revision>1</cp:revision>
  <dcterms:created xsi:type="dcterms:W3CDTF">2026-09-17T19:59:19Z</dcterms:created>
  <dcterms:modified xsi:type="dcterms:W3CDTF">2026-09-18T11:13:29Z</dcterms:modified>
</cp:coreProperties>
</file>